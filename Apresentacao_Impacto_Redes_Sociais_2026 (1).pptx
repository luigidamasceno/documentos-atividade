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3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buNone/>
            </a:pPr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4" name="TextBox 2053"/>
          <p:cNvSpPr txBox="1"/>
          <p:nvPr/>
        </p:nvSpPr>
        <p:spPr>
          <a:xfrm>
            <a:off x="704088" y="1097280"/>
            <a:ext cx="5989320" cy="1828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buNone/>
            </a:pPr>
            <a:r>
              <a:rPr sz="4000" b="1">
                <a:solidFill>
                  <a:srgbClr val="153553"/>
                </a:solidFill>
                <a:latin typeface="Verdana"/>
              </a:rPr>
              <a:t>O IMPACTO DAS</a:t>
            </a:r>
          </a:p>
          <a:p>
            <a:pPr algn="l">
              <a:buNone/>
            </a:pPr>
            <a:r>
              <a:rPr sz="4000" b="1">
                <a:solidFill>
                  <a:srgbClr val="153553"/>
                </a:solidFill>
                <a:latin typeface="Verdana"/>
              </a:rPr>
              <a:t>REDES SOCIAIS</a:t>
            </a:r>
          </a:p>
        </p:txBody>
      </p:sp>
      <p:sp>
        <p:nvSpPr>
          <p:cNvPr id="2055" name="TextBox 2054"/>
          <p:cNvSpPr txBox="1"/>
          <p:nvPr/>
        </p:nvSpPr>
        <p:spPr>
          <a:xfrm>
            <a:off x="426879" y="3018473"/>
            <a:ext cx="5897880" cy="868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buNone/>
            </a:pPr>
            <a:r>
              <a:rPr sz="2000" b="0" dirty="0">
                <a:solidFill>
                  <a:srgbClr val="153553"/>
                </a:solidFill>
                <a:latin typeface="Verdana"/>
              </a:rPr>
              <a:t>NA COMUNICAÇÃO ENTRE OS JOVENS</a:t>
            </a:r>
          </a:p>
        </p:txBody>
      </p:sp>
      <p:sp>
        <p:nvSpPr>
          <p:cNvPr id="2056" name="TextBox 2055"/>
          <p:cNvSpPr txBox="1"/>
          <p:nvPr/>
        </p:nvSpPr>
        <p:spPr>
          <a:xfrm>
            <a:off x="335280" y="4686300"/>
            <a:ext cx="576072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buNone/>
            </a:pPr>
            <a:r>
              <a:rPr sz="1300" b="0" dirty="0">
                <a:solidFill>
                  <a:srgbClr val="153553"/>
                </a:solidFill>
                <a:latin typeface="Verdana"/>
              </a:rPr>
              <a:t>Luigi </a:t>
            </a:r>
            <a:r>
              <a:rPr sz="1300" b="0" dirty="0" err="1">
                <a:solidFill>
                  <a:srgbClr val="153553"/>
                </a:solidFill>
                <a:latin typeface="Verdana"/>
              </a:rPr>
              <a:t>Damasceno</a:t>
            </a:r>
            <a:r>
              <a:rPr sz="1300" b="0" dirty="0">
                <a:solidFill>
                  <a:srgbClr val="153553"/>
                </a:solidFill>
                <a:latin typeface="Verdana"/>
              </a:rPr>
              <a:t> Silva  •  Gustavo Araujo Lima Franco</a:t>
            </a:r>
          </a:p>
        </p:txBody>
      </p:sp>
      <p:sp>
        <p:nvSpPr>
          <p:cNvPr id="2057" name="TextBox 2056"/>
          <p:cNvSpPr txBox="1"/>
          <p:nvPr/>
        </p:nvSpPr>
        <p:spPr>
          <a:xfrm>
            <a:off x="704088" y="5760720"/>
            <a:ext cx="13716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FF7825"/>
                </a:solidFill>
                <a:latin typeface="Verdana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" y="2697480"/>
            <a:ext cx="4846320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0"/>
              </a:spcAft>
              <a:buNone/>
            </a:pPr>
            <a:r>
              <a:rPr sz="2900" b="0">
                <a:solidFill>
                  <a:srgbClr val="153553"/>
                </a:solidFill>
                <a:latin typeface="Verdana"/>
              </a:rPr>
              <a:t>REDES SOCIAIS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8121" y="2194561"/>
            <a:ext cx="3535680" cy="1549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50000"/>
              </a:spcBef>
              <a:spcAft>
                <a:spcPts val="400"/>
              </a:spcAft>
              <a:buNone/>
            </a:pPr>
            <a:r>
              <a:rPr sz="1300" b="0" dirty="0" err="1">
                <a:solidFill>
                  <a:srgbClr val="153553"/>
                </a:solidFill>
                <a:latin typeface="Verdana"/>
              </a:rPr>
              <a:t>Integrantes</a:t>
            </a:r>
            <a:r>
              <a:rPr sz="1300" b="0" dirty="0">
                <a:solidFill>
                  <a:srgbClr val="153553"/>
                </a:solidFill>
                <a:latin typeface="Verdana"/>
              </a:rPr>
              <a:t>:</a:t>
            </a:r>
          </a:p>
          <a:p>
            <a:pPr algn="l">
              <a:spcAft>
                <a:spcPts val="400"/>
              </a:spcAft>
              <a:buNone/>
            </a:pPr>
            <a:r>
              <a:rPr sz="1300" b="0" dirty="0">
                <a:solidFill>
                  <a:srgbClr val="153553"/>
                </a:solidFill>
                <a:latin typeface="Verdana"/>
              </a:rPr>
              <a:t>Luigi </a:t>
            </a:r>
            <a:r>
              <a:rPr sz="1300" b="0" dirty="0" err="1">
                <a:solidFill>
                  <a:srgbClr val="153553"/>
                </a:solidFill>
                <a:latin typeface="Verdana"/>
              </a:rPr>
              <a:t>Damasceno</a:t>
            </a:r>
            <a:r>
              <a:rPr sz="1300" b="0" dirty="0">
                <a:solidFill>
                  <a:srgbClr val="153553"/>
                </a:solidFill>
                <a:latin typeface="Verdana"/>
              </a:rPr>
              <a:t> Silva</a:t>
            </a:r>
          </a:p>
          <a:p>
            <a:pPr algn="l">
              <a:spcAft>
                <a:spcPts val="400"/>
              </a:spcAft>
              <a:buNone/>
            </a:pPr>
            <a:r>
              <a:rPr sz="1300" b="0" dirty="0">
                <a:solidFill>
                  <a:srgbClr val="153553"/>
                </a:solidFill>
                <a:latin typeface="Verdana"/>
              </a:rPr>
              <a:t>Gustavo Araujo Lima Franco</a:t>
            </a:r>
          </a:p>
          <a:p>
            <a:pPr algn="l">
              <a:spcAft>
                <a:spcPts val="400"/>
              </a:spcAft>
              <a:buNone/>
            </a:pPr>
            <a:endParaRPr sz="1300" b="0" dirty="0">
              <a:solidFill>
                <a:srgbClr val="153553"/>
              </a:solidFill>
              <a:latin typeface="Verdana"/>
            </a:endParaRPr>
          </a:p>
          <a:p>
            <a:pPr algn="l">
              <a:spcAft>
                <a:spcPts val="400"/>
              </a:spcAft>
              <a:buNone/>
            </a:pPr>
            <a:r>
              <a:rPr sz="1300" b="0" dirty="0" err="1">
                <a:solidFill>
                  <a:srgbClr val="153553"/>
                </a:solidFill>
                <a:latin typeface="Verdana"/>
              </a:rPr>
              <a:t>Orientador</a:t>
            </a:r>
            <a:r>
              <a:rPr lang="pt-BR" sz="1300" b="0" dirty="0">
                <a:solidFill>
                  <a:srgbClr val="153553"/>
                </a:solidFill>
                <a:latin typeface="Verdana"/>
              </a:rPr>
              <a:t>a</a:t>
            </a:r>
            <a:r>
              <a:rPr sz="1300" b="0" dirty="0">
                <a:solidFill>
                  <a:srgbClr val="153553"/>
                </a:solidFill>
                <a:latin typeface="Verdana"/>
              </a:rPr>
              <a:t>:</a:t>
            </a:r>
            <a:endParaRPr lang="pt-BR" sz="1300" b="0" dirty="0">
              <a:solidFill>
                <a:srgbClr val="153553"/>
              </a:solidFill>
              <a:latin typeface="Verdana"/>
            </a:endParaRPr>
          </a:p>
          <a:p>
            <a:pPr algn="l">
              <a:spcAft>
                <a:spcPts val="400"/>
              </a:spcAft>
              <a:buNone/>
            </a:pPr>
            <a:r>
              <a:rPr lang="pt-BR" sz="1300" b="0" dirty="0">
                <a:solidFill>
                  <a:srgbClr val="153553"/>
                </a:solidFill>
                <a:latin typeface="Verdana"/>
              </a:rPr>
              <a:t>Isabella Luiza Dos Santos Souza</a:t>
            </a:r>
            <a:endParaRPr sz="1300" b="0" dirty="0">
              <a:solidFill>
                <a:srgbClr val="153553"/>
              </a:solidFill>
              <a:latin typeface="Verdana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1080" y="5943600"/>
            <a:ext cx="3017520" cy="761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1200"/>
              </a:spcAft>
            </a:pPr>
            <a:r>
              <a:rPr sz="1300" b="0" dirty="0">
                <a:solidFill>
                  <a:srgbClr val="FFFFFF"/>
                </a:solidFill>
                <a:latin typeface="Verdana"/>
              </a:rPr>
              <a:t>CURSO: </a:t>
            </a:r>
            <a:r>
              <a:rPr lang="pt-BR" sz="1400" b="0" i="0" dirty="0">
                <a:solidFill>
                  <a:srgbClr val="FFFFFF"/>
                </a:solidFill>
                <a:effectLst/>
                <a:latin typeface="Open Sans" panose="020B0604020202020204" pitchFamily="34" charset="0"/>
              </a:rPr>
              <a:t> Design Profissional</a:t>
            </a:r>
          </a:p>
          <a:p>
            <a:pPr algn="ctr">
              <a:spcBef>
                <a:spcPct val="50000"/>
              </a:spcBef>
              <a:spcAft>
                <a:spcPts val="1200"/>
              </a:spcAft>
              <a:buNone/>
            </a:pPr>
            <a:endParaRPr sz="1300" b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" y="3520440"/>
            <a:ext cx="5394960" cy="59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1200"/>
              </a:spcAft>
              <a:buNone/>
            </a:pPr>
            <a:r>
              <a:rPr sz="1100" b="0">
                <a:solidFill>
                  <a:srgbClr val="153553"/>
                </a:solidFill>
                <a:latin typeface="Verdana"/>
              </a:rPr>
              <a:t>Comunicação • Jovens • Tecnologia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177272" y="5230368"/>
            <a:ext cx="1005840" cy="457200"/>
          </a:xfrm>
          <a:prstGeom prst="rect">
            <a:avLst/>
          </a:prstGeom>
        </p:spPr>
        <p:txBody>
          <a:bodyPr wrap="square" lIns="36576" tIns="54864" rIns="36576" bIns="36576">
            <a:spAutoFit/>
          </a:bodyPr>
          <a:lstStyle/>
          <a:p>
            <a:pPr algn="l">
              <a:spcBef>
                <a:spcPct val="50000"/>
              </a:spcBef>
              <a:spcAft>
                <a:spcPts val="1200"/>
              </a:spcAft>
              <a:buNone/>
            </a:pPr>
            <a:r>
              <a:rPr sz="1700" b="0">
                <a:solidFill>
                  <a:srgbClr val="153553"/>
                </a:solidFill>
                <a:latin typeface="Verdana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1874519"/>
            <a:ext cx="4480560" cy="4023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algn="l">
              <a:spcAft>
                <a:spcPts val="1200"/>
              </a:spcAft>
              <a:buNone/>
            </a:pPr>
            <a:r>
              <a:rPr sz="1800" b="1">
                <a:solidFill>
                  <a:srgbClr val="153553"/>
                </a:solidFill>
                <a:latin typeface="Verdana"/>
              </a:rPr>
              <a:t>Problema da pesquisa:</a:t>
            </a:r>
          </a:p>
          <a:p>
            <a:pPr algn="l">
              <a:spcAft>
                <a:spcPts val="1200"/>
              </a:spcAft>
              <a:buNone/>
            </a:pPr>
            <a:r>
              <a:rPr sz="1800" b="0">
                <a:solidFill>
                  <a:srgbClr val="153553"/>
                </a:solidFill>
                <a:latin typeface="Verdana"/>
              </a:rPr>
              <a:t>• Como as redes sociais mudaram o jeito de os jovens conversarem?</a:t>
            </a:r>
          </a:p>
          <a:p>
            <a:pPr algn="l">
              <a:spcAft>
                <a:spcPts val="1200"/>
              </a:spcAft>
              <a:buNone/>
            </a:pPr>
            <a:endParaRPr sz="1800" b="0">
              <a:solidFill>
                <a:srgbClr val="153553"/>
              </a:solidFill>
              <a:latin typeface="Verdana"/>
            </a:endParaRPr>
          </a:p>
          <a:p>
            <a:pPr algn="l">
              <a:spcAft>
                <a:spcPts val="1200"/>
              </a:spcAft>
              <a:buNone/>
            </a:pPr>
            <a:r>
              <a:rPr sz="1800" b="0">
                <a:solidFill>
                  <a:srgbClr val="153553"/>
                </a:solidFill>
                <a:latin typeface="Verdana"/>
              </a:rPr>
              <a:t>Por que pesquisar isso?</a:t>
            </a:r>
          </a:p>
          <a:p>
            <a:pPr algn="l">
              <a:spcAft>
                <a:spcPts val="1200"/>
              </a:spcAft>
              <a:buNone/>
            </a:pPr>
            <a:r>
              <a:rPr sz="1800" b="0">
                <a:solidFill>
                  <a:srgbClr val="153553"/>
                </a:solidFill>
                <a:latin typeface="Verdana"/>
              </a:rPr>
              <a:t>• Fazem parte da rotina de muitos jovens.</a:t>
            </a:r>
          </a:p>
          <a:p>
            <a:pPr algn="l">
              <a:spcAft>
                <a:spcPts val="1200"/>
              </a:spcAft>
              <a:buNone/>
            </a:pPr>
            <a:r>
              <a:rPr sz="1800" b="0">
                <a:solidFill>
                  <a:srgbClr val="153553"/>
                </a:solidFill>
                <a:latin typeface="Verdana"/>
              </a:rPr>
              <a:t>• Aproximam pessoas, mas também podem reduzir conversas presenciais.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572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50000"/>
              </a:spcBef>
              <a:spcAft>
                <a:spcPts val="0"/>
              </a:spcAft>
              <a:buNone/>
            </a:pPr>
            <a:r>
              <a:rPr sz="2800" b="0">
                <a:solidFill>
                  <a:srgbClr val="153553"/>
                </a:solidFill>
                <a:latin typeface="Verdana"/>
              </a:rPr>
              <a:t>INTRODUÇÃO</a:t>
            </a:r>
          </a:p>
        </p:txBody>
      </p:sp>
      <p:sp>
        <p:nvSpPr>
          <p:cNvPr id="4101" name="TextBox 4100"/>
          <p:cNvSpPr txBox="1"/>
          <p:nvPr/>
        </p:nvSpPr>
        <p:spPr>
          <a:xfrm>
            <a:off x="7543800" y="2560320"/>
            <a:ext cx="4434840" cy="1737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FFFFFF"/>
                </a:solidFill>
                <a:latin typeface="Verdana"/>
              </a:rPr>
              <a:t>CONEXÃO</a:t>
            </a:r>
          </a:p>
          <a:p>
            <a:pPr algn="l">
              <a:buNone/>
            </a:pPr>
            <a:r>
              <a:rPr sz="3000" b="1">
                <a:solidFill>
                  <a:srgbClr val="FFFFFF"/>
                </a:solidFill>
                <a:latin typeface="Verdana"/>
              </a:rPr>
              <a:t>E CONVIVÊNCIA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1828800"/>
            <a:ext cx="4572000" cy="416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algn="l">
              <a:spcAft>
                <a:spcPts val="800"/>
              </a:spcAft>
              <a:buNone/>
            </a:pPr>
            <a:r>
              <a:rPr sz="1680" b="1">
                <a:solidFill>
                  <a:srgbClr val="153553"/>
                </a:solidFill>
                <a:latin typeface="Verdana"/>
              </a:rPr>
              <a:t>Objetivo geral:</a:t>
            </a:r>
          </a:p>
          <a:p>
            <a:pPr algn="l">
              <a:spcAft>
                <a:spcPts val="800"/>
              </a:spcAft>
              <a:buNone/>
            </a:pPr>
            <a:r>
              <a:rPr sz="1680" b="0">
                <a:solidFill>
                  <a:srgbClr val="153553"/>
                </a:solidFill>
                <a:latin typeface="Verdana"/>
              </a:rPr>
              <a:t>• Entender como as redes sociais influenciam a comunicação entre jovens.</a:t>
            </a:r>
          </a:p>
          <a:p>
            <a:pPr algn="l">
              <a:spcAft>
                <a:spcPts val="800"/>
              </a:spcAft>
              <a:buNone/>
            </a:pPr>
            <a:endParaRPr sz="1680" b="0">
              <a:solidFill>
                <a:srgbClr val="153553"/>
              </a:solidFill>
              <a:latin typeface="Verdana"/>
            </a:endParaRPr>
          </a:p>
          <a:p>
            <a:pPr algn="l">
              <a:spcAft>
                <a:spcPts val="800"/>
              </a:spcAft>
              <a:buNone/>
            </a:pPr>
            <a:r>
              <a:rPr sz="1680" b="1">
                <a:solidFill>
                  <a:srgbClr val="153553"/>
                </a:solidFill>
                <a:latin typeface="Verdana"/>
              </a:rPr>
              <a:t>Objetivos específicos:</a:t>
            </a:r>
          </a:p>
          <a:p>
            <a:pPr algn="l">
              <a:spcAft>
                <a:spcPts val="800"/>
              </a:spcAft>
              <a:buNone/>
            </a:pPr>
            <a:r>
              <a:rPr sz="1680" b="0">
                <a:solidFill>
                  <a:srgbClr val="153553"/>
                </a:solidFill>
                <a:latin typeface="Verdana"/>
              </a:rPr>
              <a:t>• Ver como os jovens usam as redes no dia a dia.</a:t>
            </a:r>
          </a:p>
          <a:p>
            <a:pPr algn="l">
              <a:spcAft>
                <a:spcPts val="800"/>
              </a:spcAft>
              <a:buNone/>
            </a:pPr>
            <a:r>
              <a:rPr sz="1680" b="0">
                <a:solidFill>
                  <a:srgbClr val="153553"/>
                </a:solidFill>
                <a:latin typeface="Verdana"/>
              </a:rPr>
              <a:t>• Apontar benefícios e dificuldades.</a:t>
            </a:r>
          </a:p>
          <a:p>
            <a:pPr algn="l">
              <a:spcAft>
                <a:spcPts val="800"/>
              </a:spcAft>
              <a:buNone/>
            </a:pPr>
            <a:r>
              <a:rPr sz="1680" b="0">
                <a:solidFill>
                  <a:srgbClr val="153553"/>
                </a:solidFill>
                <a:latin typeface="Verdana"/>
              </a:rPr>
              <a:t>• Analisar possíveis efeitos nos relacionamentos.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572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50000"/>
              </a:spcBef>
              <a:spcAft>
                <a:spcPts val="0"/>
              </a:spcAft>
              <a:buNone/>
            </a:pPr>
            <a:r>
              <a:rPr sz="2800" b="0">
                <a:solidFill>
                  <a:srgbClr val="153553"/>
                </a:solidFill>
                <a:latin typeface="Verdana"/>
              </a:rPr>
              <a:t>OBJETIVOS</a:t>
            </a:r>
          </a:p>
        </p:txBody>
      </p:sp>
      <p:sp>
        <p:nvSpPr>
          <p:cNvPr id="4101" name="TextBox 4100"/>
          <p:cNvSpPr txBox="1"/>
          <p:nvPr/>
        </p:nvSpPr>
        <p:spPr>
          <a:xfrm>
            <a:off x="7543800" y="2697480"/>
            <a:ext cx="4434840" cy="1417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FFFFFF"/>
                </a:solidFill>
                <a:latin typeface="Verdana"/>
              </a:rPr>
              <a:t>O QUE QUEREMOS</a:t>
            </a:r>
          </a:p>
          <a:p>
            <a:pPr algn="l">
              <a:buNone/>
            </a:pPr>
            <a:r>
              <a:rPr sz="2900" b="1">
                <a:solidFill>
                  <a:srgbClr val="FFFFFF"/>
                </a:solidFill>
                <a:latin typeface="Verdana"/>
              </a:rPr>
              <a:t>DESCOBRIR?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7840" y="868680"/>
            <a:ext cx="5212080" cy="66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l">
              <a:spcAft>
                <a:spcPts val="1200"/>
              </a:spcAft>
              <a:buNone/>
            </a:pPr>
            <a:r>
              <a:rPr sz="2900" b="0">
                <a:solidFill>
                  <a:srgbClr val="153553"/>
                </a:solidFill>
                <a:latin typeface="Verdana"/>
              </a:rPr>
              <a:t>METODOLOGIA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7840" y="1920240"/>
            <a:ext cx="5806440" cy="420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Aft>
                <a:spcPts val="1300"/>
              </a:spcAft>
              <a:buNone/>
            </a:pPr>
            <a:r>
              <a:rPr sz="2000" b="0">
                <a:solidFill>
                  <a:srgbClr val="153553"/>
                </a:solidFill>
                <a:latin typeface="Verdana"/>
              </a:rPr>
              <a:t>• Revisão bibliográfica de três textos.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 algn="l">
              <a:spcAft>
                <a:spcPts val="1300"/>
              </a:spcAft>
              <a:buNone/>
            </a:pPr>
            <a:r>
              <a:rPr sz="2000" b="0">
                <a:solidFill>
                  <a:srgbClr val="153553"/>
                </a:solidFill>
                <a:latin typeface="Verdana"/>
              </a:rPr>
              <a:t>• Fontes: Revista FT, PUCRS Online e Blog Mackenzie.</a:t>
            </a:r>
          </a:p>
          <a:p>
            <a:pPr algn="l">
              <a:spcAft>
                <a:spcPts val="1300"/>
              </a:spcAft>
              <a:buNone/>
            </a:pPr>
            <a:r>
              <a:rPr sz="2000" b="0">
                <a:solidFill>
                  <a:srgbClr val="153553"/>
                </a:solidFill>
                <a:latin typeface="Verdana"/>
              </a:rPr>
              <a:t>• Leitura e fichamento dos materiais.</a:t>
            </a:r>
          </a:p>
          <a:p>
            <a:pPr algn="l">
              <a:spcAft>
                <a:spcPts val="1300"/>
              </a:spcAft>
              <a:buNone/>
            </a:pPr>
            <a:r>
              <a:rPr sz="2000" b="0">
                <a:solidFill>
                  <a:srgbClr val="153553"/>
                </a:solidFill>
                <a:latin typeface="Verdana"/>
              </a:rPr>
              <a:t>• Comparação em três assuntos principais.</a:t>
            </a:r>
          </a:p>
          <a:p>
            <a:pPr algn="l">
              <a:spcAft>
                <a:spcPts val="1300"/>
              </a:spcAft>
              <a:buNone/>
            </a:pPr>
            <a:r>
              <a:rPr sz="2000" b="0">
                <a:solidFill>
                  <a:srgbClr val="153553"/>
                </a:solidFill>
                <a:latin typeface="Verdana"/>
              </a:rPr>
              <a:t>• Não foram feitas entrevistas com jovens.</a:t>
            </a: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572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50000"/>
              </a:spcBef>
              <a:spcAft>
                <a:spcPts val="0"/>
              </a:spcAft>
              <a:buNone/>
            </a:pPr>
            <a:r>
              <a:rPr sz="2500" b="0">
                <a:solidFill>
                  <a:srgbClr val="153553"/>
                </a:solidFill>
                <a:latin typeface="Verdana"/>
              </a:rPr>
              <a:t>FUNDAMENTAÇÃO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1783080"/>
            <a:ext cx="4526280" cy="4434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Eixo 1 — Evolução da comunicação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• Internet: contato mais rápido e fácil.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• Mackenzie: mudanças ao longo do tempo.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• PUCRS: novos hábitos digitais.</a:t>
            </a:r>
          </a:p>
          <a:p>
            <a:pPr algn="l">
              <a:spcAft>
                <a:spcPts val="800"/>
              </a:spcAft>
              <a:buNone/>
            </a:pPr>
            <a:endParaRPr sz="1600" b="0">
              <a:solidFill>
                <a:srgbClr val="153553"/>
              </a:solidFill>
              <a:latin typeface="Verdana"/>
            </a:endParaRP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Eixo 2 — Uso das redes e saúde mental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• Aproxima pessoas que estão longe.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• Uso exagerado pode trazer dificuldades.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• PUCRS e Cabral e Cruz (2025).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743200"/>
            <a:ext cx="4434840" cy="1463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FFFFFF"/>
                </a:solidFill>
                <a:latin typeface="Verdana"/>
              </a:rPr>
              <a:t>VANTAGENS</a:t>
            </a:r>
          </a:p>
          <a:p>
            <a:pPr algn="l">
              <a:buNone/>
            </a:pPr>
            <a:r>
              <a:rPr sz="3000" b="1">
                <a:solidFill>
                  <a:srgbClr val="FFFFFF"/>
                </a:solidFill>
                <a:latin typeface="Verdana"/>
              </a:rPr>
              <a:t>E DESAFIOS</a:t>
            </a: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572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50000"/>
              </a:spcBef>
              <a:spcAft>
                <a:spcPts val="0"/>
              </a:spcAft>
              <a:buNone/>
            </a:pPr>
            <a:r>
              <a:rPr sz="2500" b="0">
                <a:solidFill>
                  <a:srgbClr val="153553"/>
                </a:solidFill>
                <a:latin typeface="Verdana"/>
              </a:rPr>
              <a:t>FUNDAMENTAÇÃO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1783080"/>
            <a:ext cx="4526280" cy="4434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Eixo 3 — Desigualdades digitais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• Nem todos têm acesso à boa internet.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• Cabral e Cruz (2025): exclusão digital.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• Mackenzie: mudanças na sociedade.</a:t>
            </a:r>
          </a:p>
          <a:p>
            <a:pPr algn="l">
              <a:spcAft>
                <a:spcPts val="800"/>
              </a:spcAft>
              <a:buNone/>
            </a:pPr>
            <a:endParaRPr sz="1600" b="0">
              <a:solidFill>
                <a:srgbClr val="153553"/>
              </a:solidFill>
              <a:latin typeface="Verdana"/>
            </a:endParaRP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Comparação dos textos: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• Todos apontam mudanças na comunicação.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• Os focos são diferentes.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153553"/>
                </a:solidFill>
                <a:latin typeface="Verdana"/>
              </a:rPr>
              <a:t>• Faltam estudos feitos com jovens.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743200"/>
            <a:ext cx="4434840" cy="1463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FFFFFF"/>
                </a:solidFill>
                <a:latin typeface="Verdana"/>
              </a:rPr>
              <a:t>ACESSO</a:t>
            </a:r>
          </a:p>
          <a:p>
            <a:pPr algn="l">
              <a:buNone/>
            </a:pPr>
            <a:r>
              <a:rPr sz="3000" b="1">
                <a:solidFill>
                  <a:srgbClr val="FFFFFF"/>
                </a:solidFill>
                <a:latin typeface="Verdana"/>
              </a:rPr>
              <a:t>À TECNOLOGIA</a:t>
            </a: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32" y="850392"/>
            <a:ext cx="630936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50000"/>
              </a:spcBef>
              <a:spcAft>
                <a:spcPts val="1200"/>
              </a:spcAft>
              <a:buNone/>
            </a:pPr>
            <a:r>
              <a:rPr sz="2800" b="0">
                <a:solidFill>
                  <a:srgbClr val="153553"/>
                </a:solidFill>
                <a:latin typeface="Verdana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2" y="1965960"/>
            <a:ext cx="5897880" cy="416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algn="l">
              <a:spcAft>
                <a:spcPts val="1500"/>
              </a:spcAft>
              <a:buNone/>
            </a:pPr>
            <a:r>
              <a:rPr sz="1900" b="0">
                <a:solidFill>
                  <a:srgbClr val="153553"/>
                </a:solidFill>
                <a:latin typeface="Verdana"/>
              </a:rPr>
              <a:t>• As redes sociais facilitaram a comunicação.</a:t>
            </a:r>
          </a:p>
          <a:p>
            <a:pPr algn="l">
              <a:spcAft>
                <a:spcPts val="1500"/>
              </a:spcAft>
              <a:buNone/>
            </a:pPr>
            <a:r>
              <a:rPr sz="1900" b="0">
                <a:solidFill>
                  <a:srgbClr val="153553"/>
                </a:solidFill>
                <a:latin typeface="Verdana"/>
              </a:rPr>
              <a:t>• Ajudam a manter amizades à distância.</a:t>
            </a:r>
          </a:p>
          <a:p>
            <a:pPr algn="l">
              <a:spcAft>
                <a:spcPts val="1500"/>
              </a:spcAft>
              <a:buNone/>
            </a:pPr>
            <a:r>
              <a:rPr sz="1900" b="0">
                <a:solidFill>
                  <a:srgbClr val="153553"/>
                </a:solidFill>
                <a:latin typeface="Verdana"/>
              </a:rPr>
              <a:t>• O excesso de uso pode atrapalhar o convívio presencial.</a:t>
            </a:r>
          </a:p>
          <a:p>
            <a:pPr algn="l">
              <a:spcAft>
                <a:spcPts val="1500"/>
              </a:spcAft>
              <a:buNone/>
            </a:pPr>
            <a:r>
              <a:rPr sz="1900" b="0">
                <a:solidFill>
                  <a:srgbClr val="153553"/>
                </a:solidFill>
                <a:latin typeface="Verdana"/>
              </a:rPr>
              <a:t>• É importante equilibrar o tempo online e fora das telas.</a:t>
            </a:r>
          </a:p>
          <a:p>
            <a:pPr algn="l">
              <a:spcAft>
                <a:spcPts val="1500"/>
              </a:spcAft>
              <a:buNone/>
            </a:pPr>
            <a:r>
              <a:rPr sz="1900" b="0">
                <a:solidFill>
                  <a:srgbClr val="153553"/>
                </a:solidFill>
                <a:latin typeface="Verdana"/>
              </a:rPr>
              <a:t>• Ainda faltam pesquisas feitas diretamente com jovens.</a:t>
            </a: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1783080"/>
            <a:ext cx="4517136" cy="4681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Aft>
                <a:spcPts val="500"/>
              </a:spcAft>
              <a:buNone/>
            </a:pPr>
            <a:r>
              <a:rPr sz="1450" b="0">
                <a:solidFill>
                  <a:srgbClr val="153553"/>
                </a:solidFill>
                <a:latin typeface="Verdana"/>
              </a:rPr>
              <a:t>CABRAL, A. A. Q.; CRUZ, C. S. O impacto da tecnologia na sociedade. Revista FT, 2025.</a:t>
            </a: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algn="l">
              <a:spcAft>
                <a:spcPts val="500"/>
              </a:spcAft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algn="l">
              <a:spcAft>
                <a:spcPts val="500"/>
              </a:spcAft>
              <a:buNone/>
            </a:pPr>
            <a:r>
              <a:rPr sz="1450" b="0">
                <a:solidFill>
                  <a:srgbClr val="153553"/>
                </a:solidFill>
                <a:latin typeface="Verdana"/>
              </a:rPr>
              <a:t>MACKENZIE. Principais impactos da tecnologia na vida social. Blog Mackenzie, s.d.</a:t>
            </a:r>
          </a:p>
          <a:p>
            <a:pPr algn="l">
              <a:spcAft>
                <a:spcPts val="500"/>
              </a:spcAft>
              <a:buNone/>
            </a:pPr>
            <a:endParaRPr sz="1450" b="0">
              <a:solidFill>
                <a:srgbClr val="153553"/>
              </a:solidFill>
              <a:latin typeface="Verdana"/>
            </a:endParaRPr>
          </a:p>
          <a:p>
            <a:pPr algn="l">
              <a:spcAft>
                <a:spcPts val="500"/>
              </a:spcAft>
              <a:buNone/>
            </a:pPr>
            <a:r>
              <a:rPr sz="1450" b="0">
                <a:solidFill>
                  <a:srgbClr val="153553"/>
                </a:solidFill>
                <a:latin typeface="Verdana"/>
              </a:rPr>
              <a:t>PUCRS ONLINE. Como a tecnologia está transformando nossos hábitos diários. Blog PUCRS Online, s.d.</a:t>
            </a:r>
          </a:p>
          <a:p>
            <a:pPr algn="l">
              <a:spcAft>
                <a:spcPts val="500"/>
              </a:spcAft>
              <a:buNone/>
            </a:pPr>
            <a:endParaRPr sz="1450" b="0">
              <a:solidFill>
                <a:srgbClr val="153553"/>
              </a:solidFill>
              <a:latin typeface="Verdana"/>
            </a:endParaRPr>
          </a:p>
          <a:p>
            <a:pPr algn="l">
              <a:spcAft>
                <a:spcPts val="500"/>
              </a:spcAft>
              <a:buNone/>
            </a:pPr>
            <a:r>
              <a:rPr sz="1450" b="0">
                <a:solidFill>
                  <a:srgbClr val="153553"/>
                </a:solidFill>
                <a:latin typeface="Verdana"/>
              </a:rPr>
              <a:t>Links e referências completas no resumo em PDF.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572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50000"/>
              </a:spcBef>
              <a:spcAft>
                <a:spcPts val="0"/>
              </a:spcAft>
              <a:buNone/>
            </a:pPr>
            <a:r>
              <a:rPr sz="2700" b="0">
                <a:solidFill>
                  <a:srgbClr val="153553"/>
                </a:solidFill>
                <a:latin typeface="Verdana"/>
              </a:rPr>
              <a:t>REFERÊNCIAS</a:t>
            </a:r>
          </a:p>
        </p:txBody>
      </p:sp>
      <p:sp>
        <p:nvSpPr>
          <p:cNvPr id="4101" name="TextBox 4100"/>
          <p:cNvSpPr txBox="1"/>
          <p:nvPr/>
        </p:nvSpPr>
        <p:spPr>
          <a:xfrm>
            <a:off x="7543800" y="2606040"/>
            <a:ext cx="4434840" cy="1645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FFFFFF"/>
                </a:solidFill>
                <a:latin typeface="Verdana"/>
              </a:rPr>
              <a:t>FONTES</a:t>
            </a:r>
          </a:p>
          <a:p>
            <a:pPr algn="l">
              <a:buNone/>
            </a:pPr>
            <a:r>
              <a:rPr sz="3000" b="1">
                <a:solidFill>
                  <a:srgbClr val="FFFFFF"/>
                </a:solidFill>
                <a:latin typeface="Verdana"/>
              </a:rPr>
              <a:t>DA PESQUISA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468880"/>
            <a:ext cx="8595360" cy="192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576" tIns="54864" rIns="36576" bIns="3657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800"/>
              </a:spcAft>
              <a:buNone/>
            </a:pPr>
            <a:r>
              <a:rPr sz="3200" b="0">
                <a:solidFill>
                  <a:srgbClr val="FFFFFF"/>
                </a:solidFill>
                <a:latin typeface="Verdana"/>
              </a:rPr>
              <a:t>Obrigado pela atenção!</a:t>
            </a: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algn="ctr">
              <a:spcAft>
                <a:spcPts val="800"/>
              </a:spcAft>
              <a:buNone/>
            </a:pP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algn="ctr">
              <a:spcAft>
                <a:spcPts val="800"/>
              </a:spcAft>
              <a:buNone/>
            </a:pPr>
            <a:r>
              <a:rPr sz="3200" b="0">
                <a:solidFill>
                  <a:srgbClr val="FFFFFF"/>
                </a:solidFill>
                <a:latin typeface="Verdana"/>
              </a:rPr>
              <a:t>Luigi e Gustavo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TextBox 7172"/>
          <p:cNvSpPr txBox="1"/>
          <p:nvPr/>
        </p:nvSpPr>
        <p:spPr>
          <a:xfrm>
            <a:off x="731520" y="1051560"/>
            <a:ext cx="640080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buNone/>
            </a:pPr>
            <a:r>
              <a:rPr sz="3900" b="1">
                <a:solidFill>
                  <a:srgbClr val="FFFFFF"/>
                </a:solidFill>
                <a:latin typeface="Verdana"/>
              </a:rPr>
              <a:t>OBRIGADO!</a:t>
            </a:r>
          </a:p>
        </p:txBody>
      </p:sp>
      <p:sp>
        <p:nvSpPr>
          <p:cNvPr id="7174" name="TextBox 7173"/>
          <p:cNvSpPr txBox="1"/>
          <p:nvPr/>
        </p:nvSpPr>
        <p:spPr>
          <a:xfrm>
            <a:off x="731520" y="5166360"/>
            <a:ext cx="640080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DCEDF6"/>
                </a:solidFill>
                <a:latin typeface="Verdana"/>
              </a:rPr>
              <a:t>O impacto das redes sociais na comunicação entre os jovens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457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Open Sans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Gustavo Araujo</cp:lastModifiedBy>
  <cp:revision>21</cp:revision>
  <dcterms:created xsi:type="dcterms:W3CDTF">2021-05-14T17:32:15Z</dcterms:created>
  <dcterms:modified xsi:type="dcterms:W3CDTF">2026-10-15T00:00:15Z</dcterms:modified>
</cp:coreProperties>
</file>